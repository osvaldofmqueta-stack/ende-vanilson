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65008" y="0"/>
            <a:ext cx="4133087" cy="6858000"/>
          </a:xfrm>
          <a:prstGeom prst="rect">
            <a:avLst/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0"/>
            <a:ext cx="109728" cy="6858000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s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640080"/>
            <a:ext cx="2011680" cy="1097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64008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76656"/>
            <a:ext cx="13258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F33"/>
                </a:solidFill>
                <a:latin typeface="Aptos"/>
              </a:rPr>
              <a:t>DEFESA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6858000" cy="1691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7FAFC"/>
                </a:solidFill>
                <a:latin typeface="Aptos"/>
              </a:rPr>
              <a:t>DESENVOLVIMENTO DE SISTEMA DE GESTÃO E CONTROLO DE PAGAMENTO DE ENERGIA PRÉ-PAGO E PÓS-PAGO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383280"/>
            <a:ext cx="6309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B8F1E7"/>
                </a:solidFill>
                <a:latin typeface="Aptos"/>
              </a:rPr>
              <a:t>Caso de estudo realizado no Posto de Atendimento da ENDE Central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4709160"/>
            <a:ext cx="2057400" cy="27432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965192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Adão Joveta da Costa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321808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Orientador: Eng.º Osvaldo Fernando Muondo Queta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5074920"/>
            <a:ext cx="2697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7FAFC"/>
                </a:solidFill>
                <a:latin typeface="Aptos"/>
              </a:rPr>
              <a:t>Licenciatura em Engenharia Informática
Instituto Superior Politécnico Privado da Catepa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61996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Gestão • Consumo • Pagamentos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01 •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O desafio que motivou 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82496"/>
            <a:ext cx="749807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B8F1E7"/>
                </a:solidFill>
                <a:latin typeface="Aptos"/>
              </a:rPr>
              <a:t>No atendimento de energia, informação dispersa significa mais tempo para localizar dados, conferir consumos e acompanhar pagamentos.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743200"/>
            <a:ext cx="54864" cy="2331720"/>
          </a:xfrm>
          <a:prstGeom prst="rect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971800"/>
            <a:ext cx="384048" cy="384048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9008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53512"/>
            <a:ext cx="24048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Processos dispersos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401568"/>
            <a:ext cx="2898648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Cadastro, contratos, contadores e pagamentos precisam de uma visão integrada para apoiar o atendimento.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7432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743200"/>
            <a:ext cx="54864" cy="2331720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2" y="2971800"/>
            <a:ext cx="384048" cy="384048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99008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953512"/>
            <a:ext cx="240487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Controlo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01568"/>
            <a:ext cx="2898648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A conferência de leituras, recargas e faturas pode gerar retrabalho e dificultar o acompanhamento.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7432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54864" cy="2331720"/>
          </a:xfrm>
          <a:prstGeom prst="rect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7616" y="2971800"/>
            <a:ext cx="384048" cy="384048"/>
          </a:xfrm>
          <a:prstGeom prst="ellipse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99008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953512"/>
            <a:ext cx="240487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Visibilidade limitada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401568"/>
            <a:ext cx="2898648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Sem relatórios organizados, torna-se mais difícil acompanhar consumo, receitas e dívidas.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02 • DIREÇÃO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Objetivo e pergunta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104241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7FAFC"/>
                </a:solidFill>
                <a:latin typeface="Aptos"/>
              </a:rPr>
              <a:t>Como uma aplicação web pode apoiar o controlo do pagamento de energia pré-paga e pós-paga no Posto de Atendimento da ENDE Central?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3931920" cy="2331720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035808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1F33"/>
                </a:solidFill>
                <a:latin typeface="Aptos"/>
              </a:rPr>
              <a:t>OBJETIVO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56432"/>
            <a:ext cx="32461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B1F33"/>
                </a:solidFill>
                <a:latin typeface="Aptos"/>
              </a:rPr>
              <a:t>Desenvolver uma aplicação web contextualizada para organizar dados e apoiar a gestão de energia pré-paga e pós-paga.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6B8A6"/>
                </a:solidFill>
                <a:latin typeface="Aptos"/>
              </a:rPr>
              <a:t>Objetivos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3182112"/>
            <a:ext cx="5669280" cy="15087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Centralizar clientes, contratos, contadores e tarifas.</a:t>
            </a:r>
          </a:p>
          <a:p>
            <a:pPr>
              <a:spcAft>
                <a:spcPts val="12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Registar leituras, recargas, faturas e pagamentos.</a:t>
            </a:r>
          </a:p>
          <a:p>
            <a:pPr>
              <a:spcAft>
                <a:spcPts val="12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Disponibilizar consultas e relatórios para apoiar decisões.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03 •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Como o trabalho foi desenvolvido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788920"/>
            <a:ext cx="512064" cy="512064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5120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564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7FAFC"/>
                </a:solidFill>
                <a:latin typeface="Aptos"/>
              </a:rPr>
              <a:t>Explorar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22191"/>
            <a:ext cx="18288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Pesquisa exploratória e descritiva sobre o problema.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2788920"/>
            <a:ext cx="512064" cy="512064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5120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4564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7FAFC"/>
                </a:solidFill>
                <a:latin typeface="Aptos"/>
              </a:rPr>
              <a:t>Compreender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3822191"/>
            <a:ext cx="18288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Revisão bibliográfica, análise documental e entrevistas.</a:t>
            </a:r>
          </a:p>
        </p:txBody>
      </p:sp>
      <p:sp>
        <p:nvSpPr>
          <p:cNvPr id="14" name="Oval 13"/>
          <p:cNvSpPr/>
          <p:nvPr/>
        </p:nvSpPr>
        <p:spPr>
          <a:xfrm>
            <a:off x="5230368" y="2788920"/>
            <a:ext cx="512064" cy="512064"/>
          </a:xfrm>
          <a:prstGeom prst="ellipse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880360"/>
            <a:ext cx="5120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564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7FAFC"/>
                </a:solidFill>
                <a:latin typeface="Aptos"/>
              </a:rPr>
              <a:t>Modelar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3" y="3822191"/>
            <a:ext cx="18288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Requisitos, entidades, perfis e fluxos do MVP.</a:t>
            </a:r>
          </a:p>
        </p:txBody>
      </p:sp>
      <p:sp>
        <p:nvSpPr>
          <p:cNvPr id="18" name="Oval 17"/>
          <p:cNvSpPr/>
          <p:nvPr/>
        </p:nvSpPr>
        <p:spPr>
          <a:xfrm>
            <a:off x="7397496" y="2788920"/>
            <a:ext cx="512064" cy="512064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2880360"/>
            <a:ext cx="5120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34564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7FAFC"/>
                </a:solidFill>
                <a:latin typeface="Aptos"/>
              </a:rPr>
              <a:t>Construir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3822191"/>
            <a:ext cx="18288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Implementação modular com Django e base PostgreSQL.</a:t>
            </a:r>
          </a:p>
        </p:txBody>
      </p:sp>
      <p:sp>
        <p:nvSpPr>
          <p:cNvPr id="22" name="Oval 21"/>
          <p:cNvSpPr/>
          <p:nvPr/>
        </p:nvSpPr>
        <p:spPr>
          <a:xfrm>
            <a:off x="9564624" y="2788920"/>
            <a:ext cx="512064" cy="512064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2880360"/>
            <a:ext cx="5120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4564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7FAFC"/>
                </a:solidFill>
                <a:latin typeface="Aptos"/>
              </a:rPr>
              <a:t>Verificar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822191"/>
            <a:ext cx="18288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Testes funcionais e demonstração com dados simulados.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257800"/>
            <a:ext cx="10149840" cy="621792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440680"/>
            <a:ext cx="9646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B8F1E7"/>
                </a:solidFill>
                <a:latin typeface="Aptos"/>
              </a:rPr>
              <a:t>Nota de rigor: os dados disponíveis das entrevistas são parciais; não se afirma saturação nem generalização estatística.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04 • UTILIZADORES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Quatro perfis, responsabilidades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38528"/>
            <a:ext cx="5047488" cy="13716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286000"/>
            <a:ext cx="658368" cy="658368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23160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B1F33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2231136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2633472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8C7D5"/>
                </a:solidFill>
                <a:latin typeface="Aptos"/>
              </a:rPr>
              <a:t>Configura perfis e acompanha a gestão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938528"/>
            <a:ext cx="5047488" cy="13716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11112" y="2286000"/>
            <a:ext cx="658368" cy="658368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423160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B1F33"/>
                </a:solidFill>
                <a:latin typeface="Aptos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2231136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Operador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633472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8C7D5"/>
                </a:solidFill>
                <a:latin typeface="Aptos"/>
              </a:rPr>
              <a:t>Atende, cadastra clientes e regista operações.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13048"/>
            <a:ext cx="5047488" cy="13716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1" y="4160520"/>
            <a:ext cx="658368" cy="658368"/>
          </a:xfrm>
          <a:prstGeom prst="ellipse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4297680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B1F33"/>
                </a:solidFill>
                <a:latin typeface="Aptos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7672" y="4105656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Financeiro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7672" y="4507992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8C7D5"/>
                </a:solidFill>
                <a:latin typeface="Aptos"/>
              </a:rPr>
              <a:t>Acompanha faturas, pagamentos, receitas e dívidas.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813048"/>
            <a:ext cx="5047488" cy="13716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11112" y="4160520"/>
            <a:ext cx="658368" cy="658368"/>
          </a:xfrm>
          <a:prstGeom prst="ellipse">
            <a:avLst/>
          </a:prstGeom>
          <a:solidFill>
            <a:srgbClr val="B8F1E7"/>
          </a:solidFill>
          <a:ln>
            <a:solidFill>
              <a:srgbClr val="B8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297680"/>
            <a:ext cx="6583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B1F33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105656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507992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8C7D5"/>
                </a:solidFill>
                <a:latin typeface="Aptos"/>
              </a:rPr>
              <a:t>Consulta os seus dados, consumo, saldo e faturas.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05 •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O que foi priorizado na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2331720" cy="224028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65960"/>
            <a:ext cx="2331720" cy="91440"/>
          </a:xfrm>
          <a:prstGeom prst="rect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Cadastro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07792"/>
            <a:ext cx="1874519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F76FF"/>
                </a:solidFill>
                <a:latin typeface="Aptos"/>
              </a:rPr>
              <a:t>Clientes
Contratos
Tarifas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2779776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B8C7D5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331720" cy="224028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965960"/>
            <a:ext cx="2331720" cy="91440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5915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Medição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907792"/>
            <a:ext cx="1874519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6B8A6"/>
                </a:solidFill>
                <a:latin typeface="Aptos"/>
              </a:rPr>
              <a:t>Contadores
Leituras
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779776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B8C7D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965960"/>
            <a:ext cx="2331720" cy="224028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965960"/>
            <a:ext cx="2331720" cy="91440"/>
          </a:xfrm>
          <a:prstGeom prst="rect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35915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Financeiro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907792"/>
            <a:ext cx="1874519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4C95D"/>
                </a:solidFill>
                <a:latin typeface="Aptos"/>
              </a:rPr>
              <a:t>Recargas
Faturas
Pagamentos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779776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B8C7D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1965960"/>
            <a:ext cx="2331720" cy="224028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1" y="1965960"/>
            <a:ext cx="2331720" cy="91440"/>
          </a:xfrm>
          <a:prstGeom prst="rect">
            <a:avLst/>
          </a:prstGeom>
          <a:solidFill>
            <a:srgbClr val="B8F1E7"/>
          </a:solidFill>
          <a:ln>
            <a:solidFill>
              <a:srgbClr val="B8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1" y="2359152"/>
            <a:ext cx="187451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7FAFC"/>
                </a:solidFill>
                <a:latin typeface="Aptos"/>
              </a:rPr>
              <a:t>Análise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2907792"/>
            <a:ext cx="1874519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B8F1E7"/>
                </a:solidFill>
                <a:latin typeface="Aptos"/>
              </a:rPr>
              <a:t>Relatórios
PDF e Excel
Consultas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754880"/>
            <a:ext cx="9418320" cy="713232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983480"/>
            <a:ext cx="8869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F4C95D"/>
                </a:solidFill>
                <a:latin typeface="Aptos"/>
              </a:rPr>
              <a:t>Recibos e notificações foram modelados, mas os fluxos completos de emissão/envio permanecem fora do MVP.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06 •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Arquitetura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3063240" cy="30632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42032"/>
            <a:ext cx="24688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7FAFC"/>
                </a:solidFill>
                <a:latin typeface="Aptos"/>
              </a:rPr>
              <a:t>Bootstrap 5
HTML responsivo
Mensagens em português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3063240" cy="30632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214884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F76FF"/>
                </a:solidFill>
                <a:latin typeface="Aptos"/>
              </a:rPr>
              <a:t>APLICAÇÃO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542032"/>
            <a:ext cx="24688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7FAFC"/>
                </a:solidFill>
                <a:latin typeface="Aptos"/>
              </a:rPr>
              <a:t>Python 3.11
Django 5.2
DRF e django-filter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7616" y="1828800"/>
            <a:ext cx="3063240" cy="30632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9368" y="2148840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C95D"/>
                </a:solidFill>
                <a:latin typeface="Aptos"/>
              </a:rPr>
              <a:t>DADOS E 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2542032"/>
            <a:ext cx="24688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7FAFC"/>
                </a:solidFill>
                <a:latin typeface="Aptos"/>
              </a:rPr>
              <a:t>PostgreSQL
ReportLab para PDF
OpenPyXL para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971800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971800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 i="0">
                <a:solidFill>
                  <a:srgbClr val="B8C7D5"/>
                </a:solidFill>
                <a:latin typeface="Aptos"/>
              </a:rPr>
              <a:t>A configuração oficial do ambiente utiliza PostgreSQL; instalações locais sem servidor configurado usam SQLite apenas como fallback.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07 •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Do cliente ao pagamento: informação ligada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240280"/>
            <a:ext cx="1874519" cy="73152"/>
          </a:xfrm>
          <a:prstGeom prst="rect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87752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7FAFC"/>
                </a:solidFill>
                <a:latin typeface="Aptos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99232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perfil • contrato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43200"/>
            <a:ext cx="338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24028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240280"/>
            <a:ext cx="1874519" cy="73152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587752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7FAFC"/>
                </a:solidFill>
                <a:latin typeface="Aptos"/>
              </a:rPr>
              <a:t>Contador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999232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leituras • 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743200"/>
            <a:ext cx="338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24028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3792" y="2240280"/>
            <a:ext cx="1874519" cy="73152"/>
          </a:xfrm>
          <a:prstGeom prst="rect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587752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7FAFC"/>
                </a:solidFill>
                <a:latin typeface="Aptos"/>
              </a:rPr>
              <a:t>Recarga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3" y="2999232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saldo pré-pago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743200"/>
            <a:ext cx="338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224028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61504" y="2240280"/>
            <a:ext cx="1874519" cy="73152"/>
          </a:xfrm>
          <a:prstGeom prst="rect">
            <a:avLst/>
          </a:prstGeom>
          <a:solidFill>
            <a:srgbClr val="B8F1E7"/>
          </a:solidFill>
          <a:ln>
            <a:solidFill>
              <a:srgbClr val="B8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587752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7FAFC"/>
                </a:solidFill>
                <a:latin typeface="Aptos"/>
              </a:rPr>
              <a:t>Fatura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999232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consumo • vencimento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743200"/>
            <a:ext cx="338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9216" y="224028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9216" y="2240280"/>
            <a:ext cx="1874519" cy="73152"/>
          </a:xfrm>
          <a:prstGeom prst="rect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2587752"/>
            <a:ext cx="15361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7FAFC"/>
                </a:solidFill>
                <a:latin typeface="Aptos"/>
              </a:rPr>
              <a:t>Pagamento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999232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B8C7D5"/>
                </a:solidFill>
                <a:latin typeface="Aptos"/>
              </a:rPr>
              <a:t>liquidação • estado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4343400"/>
            <a:ext cx="9692640" cy="841248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645152"/>
            <a:ext cx="9052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A modelação preserva relações entre cadastro, medição e financeiro para apoiar consultas e relatórios.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08 •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Um atendimento acompanhado de ponta a 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1056" y="1975104"/>
            <a:ext cx="621792" cy="621792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1056" y="2121408"/>
            <a:ext cx="621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7FAFC"/>
                </a:solidFill>
                <a:latin typeface="Aptos"/>
              </a:rPr>
              <a:t>Cadastrar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01568"/>
            <a:ext cx="1938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8C7D5"/>
                </a:solidFill>
                <a:latin typeface="Aptos"/>
              </a:rPr>
              <a:t>Cliente, contrato e tarifa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5798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379976" y="1975104"/>
            <a:ext cx="621792" cy="621792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121408"/>
            <a:ext cx="621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926080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7FAFC"/>
                </a:solidFill>
                <a:latin typeface="Aptos"/>
              </a:rPr>
              <a:t>Medir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3401568"/>
            <a:ext cx="1938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8C7D5"/>
                </a:solidFill>
                <a:latin typeface="Aptos"/>
              </a:rPr>
              <a:t>Contador, leitura e consumo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15798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68896" y="1975104"/>
            <a:ext cx="621792" cy="621792"/>
          </a:xfrm>
          <a:prstGeom prst="ellipse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121408"/>
            <a:ext cx="621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7FAFC"/>
                </a:solidFill>
                <a:latin typeface="Aptos"/>
              </a:rPr>
              <a:t>Registar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01568"/>
            <a:ext cx="1938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8C7D5"/>
                </a:solidFill>
                <a:latin typeface="Aptos"/>
              </a:rPr>
              <a:t>Recarga ou fatura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15798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6B8A6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957815" y="1975104"/>
            <a:ext cx="621792" cy="621792"/>
          </a:xfrm>
          <a:prstGeom prst="ellipse">
            <a:avLst/>
          </a:prstGeom>
          <a:solidFill>
            <a:srgbClr val="B8F1E7"/>
          </a:solidFill>
          <a:ln>
            <a:solidFill>
              <a:srgbClr val="B8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7815" y="2121408"/>
            <a:ext cx="621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B1F33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926080"/>
            <a:ext cx="21579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7FAFC"/>
                </a:solidFill>
                <a:latin typeface="Aptos"/>
              </a:rPr>
              <a:t>Acompanhar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3401568"/>
            <a:ext cx="1938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8C7D5"/>
                </a:solidFill>
                <a:latin typeface="Aptos"/>
              </a:rPr>
              <a:t>Pagamento, dívida e relatório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4754880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1" y="498348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C95D"/>
                </a:solidFill>
                <a:latin typeface="Aptos"/>
              </a:rPr>
              <a:t>A demonstração utiliza dados simulados para validar o percurso funcional.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09 •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O que a avaliação funcional mostrou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4040" y="1700784"/>
            <a:ext cx="1920240" cy="310896"/>
          </a:xfrm>
          <a:prstGeom prst="roundRect">
            <a:avLst>
              <a:gd name="adj" fmla="val 12000"/>
            </a:avLst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737360"/>
            <a:ext cx="182880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0B1F33"/>
                </a:solidFill>
                <a:latin typeface="Aptos"/>
              </a:rPr>
              <a:t>DADOS SIMULADOS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3172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331720"/>
            <a:ext cx="54864" cy="2148840"/>
          </a:xfrm>
          <a:prstGeom prst="rect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" y="2560320"/>
            <a:ext cx="384048" cy="384048"/>
          </a:xfrm>
          <a:prstGeom prst="ellipse">
            <a:avLst/>
          </a:prstGeom>
          <a:solidFill>
            <a:srgbClr val="2F76FF"/>
          </a:solidFill>
          <a:ln>
            <a:solidFill>
              <a:srgbClr val="2F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57860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542032"/>
            <a:ext cx="24505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Mais centralização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90087"/>
            <a:ext cx="2944368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As informações principais passam a estar reunidas num único sistema.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3172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331720"/>
            <a:ext cx="54864" cy="2148840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0016" y="2560320"/>
            <a:ext cx="384048" cy="384048"/>
          </a:xfrm>
          <a:prstGeom prst="ellipse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57860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542032"/>
            <a:ext cx="245059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Cálculos apoiados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990087"/>
            <a:ext cx="2944368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Consumo, saldo, valores de fatura e pagamentos têm regras no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233172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2331720"/>
            <a:ext cx="54864" cy="2148840"/>
          </a:xfrm>
          <a:prstGeom prst="rect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0768" y="2560320"/>
            <a:ext cx="384048" cy="384048"/>
          </a:xfrm>
          <a:prstGeom prst="ellipse">
            <a:avLst/>
          </a:prstGeom>
          <a:solidFill>
            <a:srgbClr val="F4C95D"/>
          </a:solidFill>
          <a:ln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578608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B1F33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542032"/>
            <a:ext cx="245059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7FAFC"/>
                </a:solidFill>
                <a:latin typeface="Aptos"/>
              </a:rPr>
              <a:t>Relatórios úteis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990087"/>
            <a:ext cx="2944368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B8C7D5"/>
                </a:solidFill>
                <a:latin typeface="Aptos"/>
              </a:rPr>
              <a:t>A consulta e a exportação apoiam o acompanhamento financeiro e operacional.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195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1">
                <a:solidFill>
                  <a:srgbClr val="B8C7D5"/>
                </a:solidFill>
                <a:latin typeface="Aptos"/>
              </a:rPr>
              <a:t>Estes resultados indicam potencial de melhoria do atendimento, mas não constituem medição de desempenho real da ENDE.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10 • HONESTIDADE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7FAFC"/>
                </a:solidFill>
                <a:latin typeface="Aptos"/>
              </a:rPr>
              <a:t>Limitações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8C7D5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9601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B8F1E7"/>
                </a:solidFill>
                <a:latin typeface="Aptos"/>
              </a:rPr>
              <a:t>O MVP demonstra a base do sistema. A defesa deve apresentar claramente o que ainda requer evolução.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852160" cy="22402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Integrações reais com Multicaixa, ATM, USSD ou outras plataformas.</a:t>
            </a:r>
          </a:p>
          <a:p>
            <a:pPr>
              <a:spcAft>
                <a:spcPts val="15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Fluxo completo de emissão de recibos e envio de notificações.</a:t>
            </a:r>
          </a:p>
          <a:p>
            <a:pPr>
              <a:spcAft>
                <a:spcPts val="15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Refinamento das permissões e cobertura de testes por perfil.</a:t>
            </a:r>
          </a:p>
          <a:p>
            <a:pPr>
              <a:spcAft>
                <a:spcPts val="1500"/>
              </a:spcAft>
              <a:defRPr sz="1500">
                <a:solidFill>
                  <a:srgbClr val="F7FAFC"/>
                </a:solidFill>
                <a:latin typeface="Aptos"/>
              </a:defRPr>
            </a:pPr>
            <a:r>
              <a:t>• Automatização da suspensão por dívida e suporte mais amplo ao pós-pago.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33172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02D47"/>
          </a:solidFill>
          <a:ln>
            <a:solidFill>
              <a:srgbClr val="10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67004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6B8A6"/>
                </a:solidFill>
                <a:latin typeface="Aptos"/>
              </a:rPr>
              <a:t>EVOLUÇÃO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154680"/>
            <a:ext cx="26974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7FAFC"/>
                </a:solidFill>
                <a:latin typeface="Aptos"/>
              </a:rPr>
              <a:t>Consolidar entrevistas, ampliar testes e validar o sistema com dados operacionais autorizados.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B8C7D5"/>
                </a:solidFill>
                <a:latin typeface="Aptos"/>
              </a:rPr>
              <a:t>Defesa de monografia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510528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8C7D5"/>
                </a:solidFill>
                <a:latin typeface="Aptos"/>
              </a:rPr>
              <a:t>ENDE Central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6B8A6"/>
                </a:solidFill>
                <a:latin typeface="Aptos"/>
              </a:rPr>
              <a:t>11 •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1323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7FAFC"/>
                </a:solidFill>
                <a:latin typeface="Aptos"/>
              </a:rPr>
              <a:t>Uma base integrada para
um atendimento mais organizado.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64008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B8F1E7"/>
                </a:solidFill>
                <a:latin typeface="Aptos"/>
              </a:rPr>
              <a:t>O sistema reúne o cadastro, a medição, o pré-pago, o pós-pago, os pagamentos e os relatórios num MVP funcional, com PostgreSQL no ambiente oficial e dados simulados na demonstração.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solidFill>
              <a:srgbClr val="16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874519"/>
            <a:ext cx="2011680" cy="1508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0B1F33"/>
                </a:solidFill>
                <a:latin typeface="Aptos"/>
              </a:rPr>
              <a:t>MVP
+
VALIDAÇÃO
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4114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4C95D"/>
                </a:solidFill>
                <a:latin typeface="Aptos"/>
              </a:rPr>
              <a:t>Obrigado.
Perguntas?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12648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8C7D5"/>
                </a:solidFill>
                <a:latin typeface="Aptos"/>
              </a:rPr>
              <a:t>Adão Joveta da Costa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